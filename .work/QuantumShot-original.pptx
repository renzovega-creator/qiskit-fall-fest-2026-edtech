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</p:sldIdLst>
  <p:sldSz cx="18288000" cy="10287000"/>
  <p:notesSz cx="6858000" cy="9144000"/>
  <p:embeddedFontLst>
    <p:embeddedFont>
      <p:font typeface="IBM Plex Sans" panose="020B0503050203000203" pitchFamily="34" charset="0"/>
      <p:regular r:id="rId14"/>
    </p:embeddedFont>
    <p:embeddedFont>
      <p:font typeface="IBM Plex Sans Bold" panose="020B0604020202020204" charset="0"/>
      <p:regular r:id="rId15"/>
    </p:embeddedFont>
    <p:embeddedFont>
      <p:font typeface="IBM Plex Sans Bold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66" y="10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6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9533" y="2368376"/>
            <a:ext cx="9288935" cy="382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1"/>
              </a:lnSpc>
              <a:buNone/>
            </a:pPr>
            <a:r>
              <a:rPr lang="es-PE" sz="3122" b="1" i="1" dirty="0">
                <a:solidFill>
                  <a:srgbClr val="FFFFFF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Recorrido guiado</a:t>
            </a:r>
          </a:p>
          <a:p>
            <a:pPr algn="ctr">
              <a:lnSpc>
                <a:spcPts val="4371"/>
              </a:lnSpc>
              <a:buNone/>
            </a:pPr>
            <a:endParaRPr lang="es-PE" sz="3122" b="1" i="1" dirty="0">
              <a:solidFill>
                <a:srgbClr val="FFFFFF"/>
              </a:solidFill>
              <a:latin typeface="IBM Plex Sans Bold Italics"/>
              <a:ea typeface="IBM Plex Sans Bold Italics"/>
              <a:cs typeface="IBM Plex Sans Bold Italics"/>
              <a:sym typeface="IBM Plex Sans Bold Italics"/>
            </a:endParaRPr>
          </a:p>
          <a:p>
            <a:pPr algn="ctr">
              <a:lnSpc>
                <a:spcPts val="10929"/>
              </a:lnSpc>
              <a:buNone/>
            </a:pPr>
            <a:r>
              <a:rPr lang="es-PE" sz="7806" b="1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recorrido por </a:t>
            </a:r>
            <a:r>
              <a:rPr lang="es-PE" sz="7806" b="1" dirty="0" err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QuantumShot</a:t>
            </a:r>
            <a:endParaRPr lang="es-PE" sz="7806" b="1" dirty="0">
              <a:solidFill>
                <a:srgbClr val="FFFFFF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628298" y="1347296"/>
            <a:ext cx="2631002" cy="2175510"/>
          </a:xfrm>
          <a:custGeom>
            <a:avLst/>
            <a:gdLst/>
            <a:ahLst/>
            <a:cxnLst/>
            <a:rect l="l" t="t" r="r" b="b"/>
            <a:pathLst>
              <a:path w="2631002" h="2175510">
                <a:moveTo>
                  <a:pt x="0" y="0"/>
                </a:moveTo>
                <a:lnTo>
                  <a:pt x="2631002" y="0"/>
                </a:lnTo>
                <a:lnTo>
                  <a:pt x="2631002" y="2175510"/>
                </a:lnTo>
                <a:lnTo>
                  <a:pt x="0" y="217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Freeform 4"/>
          <p:cNvSpPr/>
          <p:nvPr/>
        </p:nvSpPr>
        <p:spPr>
          <a:xfrm>
            <a:off x="815468" y="7243171"/>
            <a:ext cx="2351274" cy="2292492"/>
          </a:xfrm>
          <a:custGeom>
            <a:avLst/>
            <a:gdLst/>
            <a:ahLst/>
            <a:cxnLst/>
            <a:rect l="l" t="t" r="r" b="b"/>
            <a:pathLst>
              <a:path w="2351274" h="2292492">
                <a:moveTo>
                  <a:pt x="0" y="0"/>
                </a:moveTo>
                <a:lnTo>
                  <a:pt x="2351273" y="0"/>
                </a:lnTo>
                <a:lnTo>
                  <a:pt x="2351273" y="2292492"/>
                </a:lnTo>
                <a:lnTo>
                  <a:pt x="0" y="2292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5" name="TextBox 5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14251805" y="351241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9"/>
                </a:lnTo>
                <a:lnTo>
                  <a:pt x="0" y="677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Portada, modo cla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073491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183491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Portada, modo claro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La portada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portada cuenta el curso como una historia en tres pasos: Aprende, Practica y Demuestra.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Siempre hay un botón principal: el siguiente paso que te toca.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Enlaces a la comunidad de Qiskit y al código del proyecto en el pie.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Del ML al QML, con Qiskit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Con la primera lección hecha, la guía lleva a la mis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7407" y="2950000"/>
            <a:ext cx="8592593" cy="600000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957407" y="9110000"/>
            <a:ext cx="8592593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 la primera lección hecha, la guía lleva a la misión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Una web que te guía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web lee tu progreso y marca el capítulo que toca como «Tu siguiente paso».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Lo que aún no toca se pliega y explica cuándo se abre.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Una barra fija repite la instrucción mientras bajas por la página.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solo siguiente paso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Lección 1.1: la regla de Born con un deslizad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Lección 1.1: la regla de Born con un deslizador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lección es un par: una idea de estadística o ML y su gemela cuántica.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narración avanza sola y la escena se maneja con clic.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Ejemplo: mueve θ hasta que el qubit sea una moneda justa.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Lecciones narradas e interactivas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04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Actividad: el embudo del error de Monte Car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Actividad: el embudo del error de Monte Carlo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Lanzas 1, 10, 100 o 1000 monedas y ves tu estimación en vivo.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franja muestra el error típico, que se estrecha como 1/√N.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Después repites la medición del qubit: cinco ejecuciones de 100 shots.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Monte Carlo con tus propias manos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05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Lección 2.1: mapas de similitud sobre las dos lun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7937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9037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Lección 2.1: mapas de similitud sobre las dos lunas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Haces clic en un punto y dos mapas pintan qué tan parecido es el resto.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Izquierda, el kernel RBF; derecha, el kernel cuántico del ZZ feature map.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 subir la escala de los datos ves por qué es un hiperparámetro.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Comparar kernels con un clic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06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Ejercicio de la lección 1.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486458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596458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Ejercicio de la lección 1.1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Aprende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lección termina con un ejercicio en un editor de código.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Comprobar ejecuta tu código con Qiskit y lo evalúa con casos de prueba.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Si te atascas, hay pistas graduales.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Programar con Qiskit de verdad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07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Mapa de habilidades con «Regla de Born» eleg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531250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641250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Mapa de habilidades con «Regla de Born» elegida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Practica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estrella es una habilidad; las flechas, sus requisitos.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Las flechas puente unen una idea clásica (ámbar) con su par cuántico (cian).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 elegir una habilidad se abren su ficha y su misión.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 mapa de habilidades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08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Misión «La moneda cuántica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93687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904687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Misión «La moneda cuántica»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Practica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Cuatro pasos: predice, experimenta, observa y demuestra.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Ejemplo: consigue que el qubit dé 1 con probabilidad 25 %.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mide en un simulador, y la web lo dice siempre.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Misiones con un resultado medible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09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Perfil de demostració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68312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779312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Perfil de demostración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Demuestra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reto superado deja una evidencia que cualquiera puede reproducir.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Reúne habilidades demostradas, insignias y tu propio mapa.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 comparte con un enlace y aclara que no es una certificación.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Tu portafolio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Reto, repaso y nivel en la port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4920905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030905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Reto, repaso y nivel en la portada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Cada día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Reto del día: la misma semilla para todos; predices y Qiskit mide.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Repaso espaciado: las preguntas vuelven a los 1, 3, 7 y 21 días.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Niveles y racha para seguir avanzando.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Cinco minutos para volver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857132"/>
            <a:chOff x="0" y="0"/>
            <a:chExt cx="4816593" cy="489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89121"/>
            </a:xfrm>
            <a:custGeom>
              <a:avLst/>
              <a:gdLst/>
              <a:ahLst/>
              <a:cxnLst/>
              <a:rect l="l" t="t" r="r" b="b"/>
              <a:pathLst>
                <a:path w="4816592" h="489121">
                  <a:moveTo>
                    <a:pt x="0" y="0"/>
                  </a:moveTo>
                  <a:lnTo>
                    <a:pt x="4816592" y="0"/>
                  </a:lnTo>
                  <a:lnTo>
                    <a:pt x="4816592" y="489121"/>
                  </a:lnTo>
                  <a:lnTo>
                    <a:pt x="0" y="489121"/>
                  </a:lnTo>
                  <a:close/>
                </a:path>
              </a:pathLst>
            </a:custGeom>
            <a:solidFill>
              <a:srgbClr val="39166D"/>
            </a:solidFill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527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Captura de la web" descr="Portada en modo oscu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950000"/>
            <a:ext cx="8850000" cy="5073491"/>
          </a:xfrm>
          <a:prstGeom prst="rect">
            <a:avLst/>
          </a:prstGeom>
          <a:ln w="19050">
            <a:solidFill>
              <a:srgbClr val="39166D"/>
            </a:solidFill>
          </a:ln>
        </p:spPr>
      </p:pic>
      <p:sp>
        <p:nvSpPr>
          <p:cNvPr id="21" name="Pie de la captura"/>
          <p:cNvSpPr txBox="1"/>
          <p:nvPr/>
        </p:nvSpPr>
        <p:spPr>
          <a:xfrm>
            <a:off x="8700000" y="8183491"/>
            <a:ext cx="8850000" cy="42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s-PE" sz="1800">
                <a:solidFill>
                  <a:srgbClr val="39166D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Portada en modo oscuro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066"/>
            <a:ext cx="120000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buNone/>
            </a:pPr>
            <a:r>
              <a:rPr lang="es-PE" sz="60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 diseño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50000"/>
            <a:ext cx="7300000" cy="6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Ámbar para lo clásico y cian para lo cuántico, en toda la web.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Modo claro por defecto y modo oscuro con un clic.</a:t>
            </a:r>
          </a:p>
          <a:p>
            <a:pPr marL="457200" indent="-457200" algn="l">
              <a:lnSpc>
                <a:spcPts val="3700"/>
              </a:lnSpc>
              <a:spcAft>
                <a:spcPts val="1600"/>
              </a:spcAft>
              <a:buClr>
                <a:srgbClr val="FE7EB6"/>
              </a:buClr>
              <a:buFont typeface="Arial"/>
              <a:buChar char="•"/>
            </a:pPr>
            <a:r>
              <a:rPr lang="es-PE" sz="26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Contraste de texto comprobado: todos los pares cumplen WCAG AA.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50000"/>
            <a:ext cx="162000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buNone/>
            </a:pPr>
            <a:r>
              <a:rPr lang="es-PE" sz="4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Un par de colores con significado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98932" y="9201150"/>
            <a:ext cx="520736" cy="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3"/>
              </a:lnSpc>
              <a:buNone/>
            </a:pPr>
            <a:r>
              <a:rPr lang="es-PE" sz="341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35680" y="589837"/>
            <a:ext cx="3383988" cy="677459"/>
          </a:xfrm>
          <a:custGeom>
            <a:avLst/>
            <a:gdLst/>
            <a:ahLst/>
            <a:cxnLst/>
            <a:rect l="l" t="t" r="r" b="b"/>
            <a:pathLst>
              <a:path w="3383988" h="677459">
                <a:moveTo>
                  <a:pt x="0" y="0"/>
                </a:moveTo>
                <a:lnTo>
                  <a:pt x="3383988" y="0"/>
                </a:lnTo>
                <a:lnTo>
                  <a:pt x="3383988" y="677458"/>
                </a:lnTo>
                <a:lnTo>
                  <a:pt x="0" y="677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Custom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IBM Plex Sans</vt:lpstr>
      <vt:lpstr>IBM Plex Sans Bold Italics</vt:lpstr>
      <vt:lpstr>Calibri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[TEMPLATE] QFF WORKSHOP: INTRODUCCIÓN A LA FÍSICA Y COMPUTACIÓN CUÁNTICA</dc:title>
  <cp:lastModifiedBy>PEDRO ESTEBAN FIDEL ROJAS FERNANDEZ</cp:lastModifiedBy>
  <cp:revision>2</cp:revision>
  <dcterms:created xsi:type="dcterms:W3CDTF">2006-08-16T00:00:00Z</dcterms:created>
  <dcterms:modified xsi:type="dcterms:W3CDTF">2026-10-24T20:41:12Z</dcterms:modified>
  <dc:identifier>DAHY9Lxj0LQ</dc:identifier>
</cp:coreProperties>
</file>