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  <p:sldId id="259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8288000" cy="10287000"/>
  <p:notesSz cx="6858000" cy="9144000"/>
  <p:embeddedFontLst>
    <p:embeddedFont>
      <p:font typeface="IBM Plex Sans" panose="020B0503050203000203" pitchFamily="34" charset="0"/>
      <p:regular r:id="rId14"/>
    </p:embeddedFont>
    <p:embeddedFont>
      <p:font typeface="IBM Plex Sans Bold" panose="020B0604020202020204" charset="0"/>
      <p:regular r:id="rId15"/>
    </p:embeddedFont>
    <p:embeddedFont>
      <p:font typeface="IBM Plex Sans Bold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66" y="10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6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9533" y="2368376"/>
            <a:ext cx="9288935" cy="382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1"/>
              </a:lnSpc>
              <a:buNone/>
            </a:pPr>
            <a:r>
              <a:rPr lang="es-PE" sz="3122" b="1" i="1" dirty="0">
                <a:solidFill>
                  <a:srgbClr val="FFFFF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Recorrido guiado</a:t>
            </a:r>
          </a:p>
          <a:p>
            <a:pPr algn="ctr">
              <a:lnSpc>
                <a:spcPts val="4371"/>
              </a:lnSpc>
              <a:buNone/>
            </a:pPr>
            <a:endParaRPr lang="es-PE" sz="3122" b="1" i="1" dirty="0">
              <a:solidFill>
                <a:srgbClr val="FFFFFF"/>
              </a:solidFill>
              <a:latin typeface="IBM Plex Sans Bold Italics"/>
              <a:ea typeface="IBM Plex Sans Bold Italics"/>
              <a:cs typeface="IBM Plex Sans Bold Italics"/>
              <a:sym typeface="IBM Plex Sans Bold Italics"/>
            </a:endParaRPr>
          </a:p>
          <a:p>
            <a:pPr algn="ctr">
              <a:lnSpc>
                <a:spcPts val="10929"/>
              </a:lnSpc>
              <a:buNone/>
            </a:pPr>
            <a:r>
              <a:rPr lang="es-PE" sz="7806" b="1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 recorrido por </a:t>
            </a:r>
            <a:r>
              <a:rPr lang="es-PE" sz="7806" b="1" dirty="0" err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QuantumShot</a:t>
            </a:r>
            <a:endParaRPr lang="es-PE" sz="7806" b="1" dirty="0">
              <a:solidFill>
                <a:srgbClr val="FFFFFF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628298" y="1347296"/>
            <a:ext cx="2631002" cy="2175510"/>
          </a:xfrm>
          <a:custGeom>
            <a:avLst/>
            <a:gdLst/>
            <a:ahLst/>
            <a:cxnLst/>
            <a:rect l="l" t="t" r="r" b="b"/>
            <a:pathLst>
              <a:path w="2631002" h="2175510">
                <a:moveTo>
                  <a:pt x="0" y="0"/>
                </a:moveTo>
                <a:lnTo>
                  <a:pt x="2631002" y="0"/>
                </a:lnTo>
                <a:lnTo>
                  <a:pt x="2631002" y="2175510"/>
                </a:lnTo>
                <a:lnTo>
                  <a:pt x="0" y="217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>
            <a:off x="815468" y="7243171"/>
            <a:ext cx="2351274" cy="2292492"/>
          </a:xfrm>
          <a:custGeom>
            <a:avLst/>
            <a:gdLst/>
            <a:ahLst/>
            <a:cxnLst/>
            <a:rect l="l" t="t" r="r" b="b"/>
            <a:pathLst>
              <a:path w="2351274" h="2292492">
                <a:moveTo>
                  <a:pt x="0" y="0"/>
                </a:moveTo>
                <a:lnTo>
                  <a:pt x="2351273" y="0"/>
                </a:lnTo>
                <a:lnTo>
                  <a:pt x="2351273" y="2292492"/>
                </a:lnTo>
                <a:lnTo>
                  <a:pt x="0" y="2292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TextBox 5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</a:p>
        </p:txBody>
      </p:sp>
      <p:sp>
        <p:nvSpPr>
          <p:cNvPr id="6" name="Freeform 6"/>
          <p:cNvSpPr/>
          <p:nvPr/>
        </p:nvSpPr>
        <p:spPr>
          <a:xfrm>
            <a:off x="14251805" y="351241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9"/>
                </a:lnTo>
                <a:lnTo>
                  <a:pt x="0" y="677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Portada, modo cla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5073491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8183491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Portada, modo claro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 reto y para quién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reto: conectar estadística y machine learning con circuitos y mediciones de Qiskit, desde la idea hasta el código.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Público inicial: estudiantes de 16+ que empiezan con Qiskit (hipótesis por validar).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Uso objetivo: una micropráctica de 5 minutos al día (hipótesis, aún no validada).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Del ML al QML, con Qiskit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Con la primera lección hecha, la guía lleva a la mis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7407" y="2950000"/>
            <a:ext cx="8592593" cy="600000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957407" y="9110000"/>
            <a:ext cx="8592593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 la primera lección hecha, la guía lleva a la misión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Una web que te guía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web lee tu progreso y marca el capítulo que toca como «Tu siguiente paso».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 que aún no toca se pliega y explica cuándo se abre.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 barra fija repite la instrucción mientras bajas por la página.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 solo siguiente paso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Lección 1.1: la regla de Born con un deslizad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79375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903750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Lección 1.1: la regla de Born con un deslizador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Aprende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lección es un par: una idea de estadística o ML y su gemela cuántica.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narración avanza sola y la escena se maneja con clic.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Ejemplo: mueve θ hasta que el qubit sea una moneda justa.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Lecciones narradas e interactivas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Actividad: el embudo del error de Monte Carl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79375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903750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Actividad: el embudo del error de Monte Carlo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Aprende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Lanzas 1, 10, 100 o 1000 monedas y ves tu estimación en vivo.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franja muestra el error típico, que se estrecha como 1/√N.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Después repites la medición del qubit: cinco ejecuciones de 100 shots.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Monte Carlo con tus propias manos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Lección 2.1: mapas de similitud sobre las dos lun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79375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903750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Lección 2.1: mapas de similitud sobre las dos lunas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Aprende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Haces clic en un punto y dos mapas pintan qué tan parecido es el resto.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Izquierda, el kernel RBF; derecha, el kernel cuántico del ZZ feature map.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 subir la escala de los datos ves por qué es un hiperparámetro.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Comparar kernels con un clic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Ejercicio de la lección 1.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486458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596458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Ejercicio de la lección 1.1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Aprende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lección termina con un ejercicio en un editor de código.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local, ejecutas Python/Qiskit y ves la salida o el error.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te atascas, hay pistas graduales.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Probar código con Qiskit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07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Mapa de habilidades con «Regla de Born» eleg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553125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8641250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Mapa de habilidades con «Regla de Born» elegida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Practica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estrella es una habilidad; las flechas, sus requisitos.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 flechas puente unen una idea clásica (ámbar) con su par cuántico (cian).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 elegir una habilidad se abren su ficha y su misión.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 mapa de habilidades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08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Misión «La moneda cuántica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5936875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9046875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Misión «La moneda cuántica»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Practica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Cuatro pasos: predice, experimenta, observa y demuestra.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Ejemplo: consigue que el qubit dé 1 con probabilidad 25 %.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local, Qiskit mide en un simulador; Pages muestra resultados precomputados.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Misiones con un resultado medible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09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Perfil de demostra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683125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793125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Perfil de demostración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Demuestra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reto superado deja una evidencia que cualquiera puede reproducir.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Reúne habilidades demostradas, insignias y tu propio mapa.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 comparte con un enlace y aclara que no es una certificación.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Tu portafolio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Reto, repaso y nivel en la port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920905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8030905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Reto, repaso y nivel en la portada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Cada día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local, predices y mides con Qiskit; Pages muestra resultados ya calculados.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Repaso espaciado: las preguntas vuelven a los 1, 3, 7 y 21 días.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Niveles y racha para seguir avanzando.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Cinco minutos para volver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DAE5FC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" name="Group 2"/>
          <ns0:cNvGrpSpPr/>
          <ns0:nvPr/>
        </ns0:nvGrpSpPr>
        <ns0:grpSpPr>
          <ns1:xfrm>
            <ns1:off x="0" y="0"/>
            <ns1:ext cx="18288000" cy="1857132"/>
            <ns1:chOff x="0" y="0"/>
            <ns1:chExt cx="4816593" cy="489121"/>
          </ns1:xfrm>
        </ns0:grpSpPr>
        <ns0:sp>
          <ns0:nvSpPr>
            <ns0:cNvPr id="3" name="Freeform 3"/>
            <ns0:cNvSpPr/>
            <ns0:nvPr/>
          </ns0:nvSpPr>
          <ns0:spPr>
            <ns1:xfrm>
              <ns1:off x="0" y="0"/>
              <ns1:ext cx="4816592" cy="489121"/>
            </ns1:xfrm>
            <ns1:custGeom>
              <ns1:avLst/>
              <ns1:gdLst/>
              <ns1:ahLst/>
              <ns1:cxnLst/>
              <ns1:rect l="l" t="t" r="r" b="b"/>
              <ns1:pathLst>
                <ns1:path w="4816592" h="489121">
                  <ns1:moveTo>
                    <ns1:pt x="0" y="0"/>
                  </ns1:moveTo>
                  <ns1:lnTo>
                    <ns1:pt x="4816592" y="0"/>
                  </ns1:lnTo>
                  <ns1:lnTo>
                    <ns1:pt x="4816592" y="489121"/>
                  </ns1:lnTo>
                  <ns1:lnTo>
                    <ns1:pt x="0" y="489121"/>
                  </ns1:lnTo>
                  <ns1:close/>
                </ns1:path>
              </ns1:pathLst>
            </ns1:custGeom>
            <ns1:solidFill>
              <ns1:srgbClr val="39166D"/>
            </ns1:solidFill>
          </ns0:spPr>
          <ns0:txBody>
            <ns1:bodyPr/>
            <ns1:lstStyle/>
            <ns1:p>
              <ns1:endParaRPr lang="es-PE"/>
            </ns1:p>
          </ns0:txBody>
        </ns0:sp>
        <ns0:sp>
          <ns0:nvSpPr>
            <ns0:cNvPr id="4" name="TextBox 4"/>
            <ns0:cNvSpPr txBox="1"/>
            <ns0:nvPr/>
          </ns0:nvSpPr>
          <ns0:spPr>
            <ns1:xfrm>
              <ns1:off x="0" y="-38100"/>
              <ns1:ext cx="4816593" cy="527221"/>
            </ns1:xfrm>
            <ns1:prstGeom prst="rect">
              <ns1:avLst/>
            </ns1:prstGeom>
          </ns0:spPr>
          <ns0:txBody>
            <ns1:bodyPr lIns="50800" tIns="50800" rIns="50800" bIns="50800" rtlCol="0" anchor="ctr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  <ns1:endParaRPr/>
            </ns1:p>
          </ns0:txBody>
        </ns0:sp>
      </ns0:grpSp>
      <ns0:pic>
        <ns0:nvPicPr>
          <ns0:cNvPr id="20" name="Captura de la web" descr="Portada en modo oscuro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700000" y="2950000"/>
            <ns1:ext cx="8850000" cy="5073491"/>
          </ns1:xfrm>
          <ns1:prstGeom prst="rect">
            <ns1:avLst/>
          </ns1:prstGeom>
          <ns1:ln w="19050">
            <ns1:solidFill>
              <ns1:srgbClr val="39166D"/>
            </ns1:solidFill>
          </ns1:ln>
        </ns0:spPr>
      </ns0:pic>
      <ns0:sp>
        <ns0:nvSpPr>
          <ns0:cNvPr id="21" name="Pie de la captura"/>
          <ns0:cNvSpPr txBox="1"/>
          <ns0:nvPr/>
        </ns0:nvSpPr>
        <ns0:spPr>
          <ns1:xfrm>
            <ns1:off x="8700000" y="8183491"/>
            <ns1:ext cx="8850000" cy="420000"/>
          </ns1:xfrm>
          <ns1:prstGeom prst="rect">
            <ns1:avLst/>
          </ns1:prstGeom>
        </ns0:spPr>
        <ns0:txBody>
          <ns1:bodyPr wrap="square" lIns="0" tIns="0" rIns="0" bIns="0" rtlCol="0" anchor="t">
            <ns1:spAutoFit/>
          </ns1:bodyPr>
          <ns1:lstStyle/>
          <ns1:p>
            <ns1:pPr algn="l">
              <ns1:lnSpc>
                <ns1:spcPts val="2400"/>
              </ns1:lnSpc>
              <ns1:buNone/>
            </ns1:pPr>
            <ns1:r>
              <ns1:rPr lang="es-PE" sz="1800">
                <ns1:solidFill>
                  <ns1:srgbClr val="39166D"/>
                </ns1:solidFill>
                <ns1:latin typeface="IBM Plex Sans"/>
                <ns1:ea typeface="IBM Plex Sans"/>
                <ns1:cs typeface="IBM Plex Sans"/>
                <ns1:sym typeface="IBM Plex Sans"/>
              </ns1:rPr>
              <ns1:t>Portada en modo oscuro</ns1:t>
            </ns1:r>
          </ns1:p>
        </ns0:txBody>
      </ns0:sp>
      <ns0:sp>
        <ns0:nvSpPr>
          <ns0:cNvPr id="7" name="TextBox 7"/>
          <ns0:cNvSpPr txBox="1"/>
          <ns0:nvPr/>
        </ns0:nvSpPr>
        <ns0:spPr>
          <ns1:xfrm>
            <ns1:off x="1028700" y="357066"/>
            <ns1:ext cx="12000000" cy="1028700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8400"/>
              </ns1:lnSpc>
              <ns1:buNone/>
            </ns1:pPr>
            <ns1:r>
              <ns1:rPr lang="es-PE" sz="6000" b="1">
                <ns1:solidFill>
                  <ns1:srgbClr val="FFFFFF"/>
                </ns1:solidFill>
                <ns1:latin typeface="IBM Plex Sans Bold"/>
                <ns1:ea typeface="IBM Plex Sans Bold"/>
                <ns1:cs typeface="IBM Plex Sans Bold"/>
                <ns1:sym typeface="IBM Plex Sans Bold"/>
              </ns1:rPr>
              <ns1:t>Tecnología y versiones</ns1:t>
            </ns1:r>
          </ns1:p>
        </ns0:txBody>
      </ns0:sp>
      <ns0:sp>
        <ns0:nvSpPr>
          <ns0:cNvPr id="8" name="TextBox 8"/>
          <ns0:cNvSpPr txBox="1"/>
          <ns0:nvPr/>
        </ns0:nvSpPr>
        <ns0:spPr>
          <ns1:xfrm>
            <ns1:off x="1028700" y="3050000"/>
            <ns1:ext cx="7300000" cy="6000000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marL="457200" indent="-457200" algn="l">
              <ns1:lnSpc>
                <ns1:spcPts val="3700"/>
              </ns1:lnSpc>
              <ns1:spcAft>
                <ns1:spcPts val="1600"/>
              </ns1:spcAft>
              <ns1:buClr>
                <ns1:srgbClr val="FE7EB6"/>
              </ns1:buClr>
              <ns1:buFont typeface="Arial"/>
              <ns1:buChar char="•"/>
            </ns1:pPr>
            <ns1:r>
              <ns1:rPr lang="es-PE" sz="2600">
                <ns1:solidFill>
                  <ns1:srgbClr val="000000"/>
                </ns1:solidFill>
                <ns1:latin typeface="IBM Plex Sans"/>
                <ns1:ea typeface="IBM Plex Sans"/>
                <ns1:cs typeface="IBM Plex Sans"/>
                <ns1:sym typeface="IBM Plex Sans"/>
              </ns1:rPr>
              <ns1:t>Interfaz: HTML, CSS y JavaScript; las lecciones, misiones y el mapa interactivo corren en el navegador.</ns1:t>
            </ns1:r>
          </ns1:p>
          <ns1:p>
            <ns1:pPr marL="457200" indent="-457200" algn="l">
              <ns1:lnSpc>
                <ns1:spcPts val="3700"/>
              </ns1:lnSpc>
              <ns1:spcAft>
                <ns1:spcPts val="1600"/>
              </ns1:spcAft>
              <ns1:buClr>
                <ns1:srgbClr val="FE7EB6"/>
              </ns1:buClr>
              <ns1:buFont typeface="Arial"/>
              <ns1:buChar char="•"/>
            </ns1:pPr>
            <ns1:r>
              <ns1:rPr lang="es-PE" sz="2600">
                <ns1:solidFill>
                  <ns1:srgbClr val="000000"/>
                </ns1:solidFill>
                <ns1:latin typeface="IBM Plex Sans"/>
                <ns1:ea typeface="IBM Plex Sans"/>
                <ns1:cs typeface="IBM Plex Sans"/>
                <ns1:sym typeface="IBM Plex Sans"/>
              </ns1:rPr>
              <ns1:t>Local: Qiskit ejecuta experimentos. GitHub Pages: demo estática con resultados de ejemplo. Abre: renzovega-creator.github.io/qiskit-fall-fest-2026-edtech.</ns1:t>
            </ns1:r>
          </ns1:p>
          <ns1:p>
            <ns1:pPr marL="457200" indent="-457200" algn="l">
              <ns1:lnSpc>
                <ns1:spcPts val="3700"/>
              </ns1:lnSpc>
              <ns1:spcAft>
                <ns1:spcPts val="1600"/>
              </ns1:spcAft>
              <ns1:buClr>
                <ns1:srgbClr val="FE7EB6"/>
              </ns1:buClr>
              <ns1:buFont typeface="Arial"/>
              <ns1:buChar char="•"/>
            </ns1:pPr>
            <ns1:r>
              <ns1:rPr lang="es-PE" sz="2600">
                <ns1:solidFill>
                  <ns1:srgbClr val="000000"/>
                </ns1:solidFill>
                <ns1:latin typeface="IBM Plex Sans"/>
                <ns1:ea typeface="IBM Plex Sans"/>
                <ns1:cs typeface="IBM Plex Sans"/>
                <ns1:sym typeface="IBM Plex Sans"/>
              </ns1:rPr>
              <ns1:t>Base: motor didáctico de qiskit-guides-compartido, acreditado en el README. QuantumShot añade la ruta, las misiones, el mapa y el portafolio; Git conserva las autorías originales.</ns1:t>
            </ns1:r>
          </ns1:p>
        </ns0:txBody>
      </ns0:sp>
      <ns0:sp>
        <ns0:nvSpPr>
          <ns0:cNvPr id="10" name="TextBox 10"/>
          <ns0:cNvSpPr txBox="1"/>
          <ns0:nvPr/>
        </ns0:nvSpPr>
        <ns0:spPr>
          <ns1:xfrm>
            <ns1:off x="1028700" y="2050000"/>
            <ns1:ext cx="16200000" cy="712470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l">
              <ns1:lnSpc>
                <ns1:spcPts val="5880"/>
              </ns1:lnSpc>
              <ns1:buNone/>
            </ns1:pPr>
            <ns1:r>
              <ns1:rPr lang="es-PE" sz="4200" b="1">
                <ns1:solidFill>
                  <ns1:srgbClr val="000000"/>
                </ns1:solidFill>
                <ns1:latin typeface="IBM Plex Sans Bold"/>
                <ns1:ea typeface="IBM Plex Sans Bold"/>
                <ns1:cs typeface="IBM Plex Sans Bold"/>
                <ns1:sym typeface="IBM Plex Sans Bold"/>
              </ns1:rPr>
              <ns1:t>Un par de colores con significado</ns1:t>
            </ns1:r>
          </ns1:p>
        </ns0:txBody>
      </ns0:sp>
      <ns0:sp>
        <ns0:nvSpPr>
          <ns0:cNvPr id="11" name="TextBox 11"/>
          <ns0:cNvSpPr txBox="1"/>
          <ns0:nvPr/>
        </ns0:nvSpPr>
        <ns0:spPr>
          <ns1:xfrm>
            <ns1:off x="16998932" y="9201150"/>
            <ns1:ext cx="520736" cy="570434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 algn="ctr">
              <ns1:lnSpc>
                <ns1:spcPts val="4783"/>
              </ns1:lnSpc>
              <ns1:buNone/>
            </ns1:pPr>
            <ns1:r>
              <ns1:rPr lang="es-PE" sz="3417">
                <ns1:solidFill>
                  <ns1:srgbClr val="000000"/>
                </ns1:solidFill>
                <ns1:latin typeface="IBM Plex Sans"/>
                <ns1:ea typeface="IBM Plex Sans"/>
                <ns1:cs typeface="IBM Plex Sans"/>
                <ns1:sym typeface="IBM Plex Sans"/>
              </ns1:rPr>
              <ns1:t>12</ns1:t>
            </ns1:r>
          </ns1:p>
        </ns0:txBody>
      </ns0:sp>
      <ns0:sp>
        <ns0:nvSpPr>
          <ns0:cNvPr id="12" name="Freeform 12"/>
          <ns0:cNvSpPr/>
          <ns0:nvPr/>
        </ns0:nvSpPr>
        <ns0:spPr>
          <ns1:xfrm>
            <ns1:off x="14135680" y="589837"/>
            <ns1:ext cx="3383988" cy="677459"/>
          </ns1:xfrm>
          <ns1:custGeom>
            <ns1:avLst/>
            <ns1:gdLst/>
            <ns1:ahLst/>
            <ns1:cxnLst/>
            <ns1:rect l="l" t="t" r="r" b="b"/>
            <ns1:pathLst>
              <ns1:path w="3383988" h="677459">
                <ns1:moveTo>
                  <ns1:pt x="0" y="0"/>
                </ns1:moveTo>
                <ns1:lnTo>
                  <ns1:pt x="3383988" y="0"/>
                </ns1:lnTo>
                <ns1:lnTo>
                  <ns1:pt x="3383988" y="677458"/>
                </ns1:lnTo>
                <ns1:lnTo>
                  <ns1:pt x="0" y="677458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/>
            <ns1:stretch>
              <ns1:fillRect/>
            </ns1:stretch>
          </ns1:blipFill>
        </ns0:spPr>
        <ns0:txBody>
          <ns1:bodyPr/>
          <ns1:lstStyle/>
          <ns1:p>
            <ns1:endParaRPr lang="es-PE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Office PowerPoint</Application>
  <PresentationFormat>Custom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IBM Plex Sans</vt:lpstr>
      <vt:lpstr>IBM Plex Sans Bold Italics</vt:lpstr>
      <vt:lpstr>Calibri</vt:lpstr>
      <vt:lpstr>IBM Plex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[TEMPLATE] QFF WORKSHOP: INTRODUCCIÓN A LA FÍSICA Y COMPUTACIÓN CUÁNTICA</dc:title>
  <cp:lastModifiedBy>PEDRO ESTEBAN FIDEL ROJAS FERNANDEZ</cp:lastModifiedBy>
  <cp:revision>2</cp:revision>
  <dcterms:created xsi:type="dcterms:W3CDTF">2006-08-16T00:00:00Z</dcterms:created>
  <dcterms:modified xsi:type="dcterms:W3CDTF">2026-10-24T20:41:12Z</dcterms:modified>
  <dc:identifier>DAHY9Lxj0LQ</dc:identifier>
</cp:coreProperties>
</file>